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Predictions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D4E"/>
              </a:solidFill>
              <a:effectLst/>
            </c:spPr>
          </c:dPt>
          <c:dPt>
            <c:idx val="1"/>
            <c:bubble3D val="0"/>
            <c:spPr>
              <a:solidFill>
                <a:srgbClr val="F0A35B"/>
              </a:solidFill>
              <a:effectLst/>
            </c:spPr>
          </c:dPt>
          <c:dPt>
            <c:idx val="2"/>
            <c:bubble3D val="0"/>
            <c:spPr>
              <a:solidFill>
                <a:srgbClr val="E8C547"/>
              </a:solidFill>
              <a:effectLst/>
            </c:spPr>
          </c:dPt>
          <c:dPt>
            <c:idx val="3"/>
            <c:bubble3D val="0"/>
            <c:spPr>
              <a:solidFill>
                <a:srgbClr val="00B4A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Fake</c:v>
                </c:pt>
                <c:pt idx="1">
                  <c:v>Likely Fake</c:v>
                </c:pt>
                <c:pt idx="2">
                  <c:v>Partially True</c:v>
                </c:pt>
                <c:pt idx="3">
                  <c:v>True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22</c:v>
                </c:pt>
                <c:pt idx="2">
                  <c:v>18</c:v>
                </c:pt>
                <c:pt idx="3">
                  <c:v>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00B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51</c:v>
                </c:pt>
                <c:pt idx="2">
                  <c:v>47</c:v>
                </c:pt>
                <c:pt idx="3">
                  <c:v>60</c:v>
                </c:pt>
                <c:pt idx="4">
                  <c:v>55</c:v>
                </c:pt>
                <c:pt idx="5">
                  <c:v>38</c:v>
                </c:pt>
                <c:pt idx="6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rgbClr val="E85D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2C32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4114800" cy="4114800"/>
          </a:xfrm>
          <a:prstGeom prst="ellipse">
            <a:avLst/>
          </a:prstGeom>
          <a:solidFill>
            <a:srgbClr val="028074"/>
          </a:solidFill>
          <a:ln/>
          <a:effectLst>
            <a:outerShdw sx="100000" sy="100000" kx="0" ky="0" algn="bl" rotWithShape="0" blurRad="254000" dist="508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TRUTHLENS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Fake News Detection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457200" cy="4114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· RBAC · Production Deployment Readiness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Misinformation spreads faster than fact-checking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spread of false news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true stories on social platforms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billions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17720" y="29260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published daily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beyond manual review capacity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readers spend deciding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trust a headline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57200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fact-checking cannot scale. Readers need an instant, explainable, AI-driven signal — not just “true” or “false”, but a confidence score and reasoning they can evaluate for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codebase audit actually found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85416"/>
            <a:ext cx="457200" cy="4572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856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was non-functional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221992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admin pages crashed with a 500 error — a template bug nobody had caught.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85416"/>
            <a:ext cx="457200" cy="4572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856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admin bypass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221992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checked .env credentials directly and minted a token for a user that didn't exist in the database.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4838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controller was a stub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849624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lines total — no user management, moderation, analytics, or settings.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319272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813048"/>
            <a:ext cx="457200" cy="4572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34838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deployment infrastructure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849624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Docker, no CI, no configs for any hosting platform.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946904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440680"/>
            <a:ext cx="457200" cy="4572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1114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477256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had to be verified by hand.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946904"/>
            <a:ext cx="5440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440680"/>
            <a:ext cx="457200" cy="4572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51114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model imports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5477256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admin routes referenced models that were never required — guaranteed runtime crashes.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production-ready platform, rebuilt around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22960" cy="8229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RBAC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 a normal database user — no bypass. Roles, status, and revocable tokens enforced on every request.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822960" cy="8229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340" dirty="0"/>
          </a:p>
        </p:txBody>
      </p:sp>
      <p:sp>
        <p:nvSpPr>
          <p:cNvPr id="11" name="Text 9"/>
          <p:cNvSpPr/>
          <p:nvPr/>
        </p:nvSpPr>
        <p:spPr>
          <a:xfrm>
            <a:off x="425196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Admin Authority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51960" y="34290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Users, News, Reports, AI stats, Analytics, Settings, and a full audit trail.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822960" cy="8229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340" dirty="0"/>
          </a:p>
        </p:txBody>
      </p:sp>
      <p:sp>
        <p:nvSpPr>
          <p:cNvPr id="15" name="Text 13"/>
          <p:cNvSpPr/>
          <p:nvPr/>
        </p:nvSpPr>
        <p:spPr>
          <a:xfrm>
            <a:off x="80467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Deployment-Ready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342900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CI, and configs for Render, Railway, Vercel, and Netlify — with honest platform trade-offs documented.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320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67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9631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/ Express 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6744" y="2039112"/>
            <a:ext cx="320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2167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66744" y="249631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+ express-ejs-layouts, Bootstrap 5, Chart.js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2784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28816" y="2039112"/>
            <a:ext cx="320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5" name="Text 13"/>
          <p:cNvSpPr/>
          <p:nvPr/>
        </p:nvSpPr>
        <p:spPr>
          <a:xfrm>
            <a:off x="6528816" y="2167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249631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34856" y="17830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90888" y="2039112"/>
            <a:ext cx="320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9" name="Text 17"/>
          <p:cNvSpPr/>
          <p:nvPr/>
        </p:nvSpPr>
        <p:spPr>
          <a:xfrm>
            <a:off x="9390888" y="2167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90888" y="249631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(access + refresh), bcrypt, express-session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364992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3621024"/>
            <a:ext cx="320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407822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(Llama) primary, Gemini alternate provider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10712" y="3364992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66744" y="3621024"/>
            <a:ext cx="320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7" name="Text 25"/>
          <p:cNvSpPr/>
          <p:nvPr/>
        </p:nvSpPr>
        <p:spPr>
          <a:xfrm>
            <a:off x="3666744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66744" y="407822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mongo-sanitize, rate-limit, CSRF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72784" y="3364992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28816" y="3621024"/>
            <a:ext cx="320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1" name="Text 29"/>
          <p:cNvSpPr/>
          <p:nvPr/>
        </p:nvSpPr>
        <p:spPr>
          <a:xfrm>
            <a:off x="6528816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28816" y="407822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Supertest, mongodb-memory-server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34856" y="3364992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90888" y="3621024"/>
            <a:ext cx="32004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5" name="Text 33"/>
          <p:cNvSpPr/>
          <p:nvPr/>
        </p:nvSpPr>
        <p:spPr>
          <a:xfrm>
            <a:off x="9390888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390888" y="407822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(falls back to local disk)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lifecycle,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views + Bootstrap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SPA-style panel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324612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62072" y="19202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219456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3090672" y="2194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44952" y="28803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· CORS · Rate Limit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· Sanitize · Maintenance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324612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84064" y="19202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12664" y="219456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028074"/>
          </a:solidFill>
          <a:ln/>
        </p:spPr>
      </p:sp>
      <p:sp>
        <p:nvSpPr>
          <p:cNvPr id="17" name="Text 15"/>
          <p:cNvSpPr/>
          <p:nvPr/>
        </p:nvSpPr>
        <p:spPr>
          <a:xfrm>
            <a:off x="5312664" y="2194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66944" y="28803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(JWT)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requireActiveUser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authorize('admin')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50024" y="324612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06056" y="19202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34656" y="219456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/>
        </p:spPr>
      </p:sp>
      <p:sp>
        <p:nvSpPr>
          <p:cNvPr id="22" name="Text 20"/>
          <p:cNvSpPr/>
          <p:nvPr/>
        </p:nvSpPr>
        <p:spPr>
          <a:xfrm>
            <a:off x="7534656" y="2194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88936" y="28803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news · 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72016" y="324612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28048" y="192024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56648" y="219456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E85D4E"/>
          </a:solidFill>
          <a:ln/>
        </p:spPr>
      </p:sp>
      <p:sp>
        <p:nvSpPr>
          <p:cNvPr id="27" name="Text 25"/>
          <p:cNvSpPr/>
          <p:nvPr/>
        </p:nvSpPr>
        <p:spPr>
          <a:xfrm>
            <a:off x="9756648" y="2194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+ Services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10928" y="2880360"/>
            <a:ext cx="1600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Mongoose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Gemini AI · Email · PDF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/api/admin/* route runs the full middleware chain — protect → requireActiveUser → authorize('admin') — independent of any page-level check.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Mongoose collections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01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042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status, tokenVersion — the RBAC 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901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NewsHistory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53712" y="23042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AI analysis results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1901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TrendingNews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02752" y="23042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feed + moderation workflow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" y="3767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lookup 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32004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53712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53712" y="3767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PDF download records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2004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02752" y="3364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ContentReport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2752" y="3767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user-flagged content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0" y="33467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" y="4828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AuditLog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4672" y="5230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security trail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4809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46634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53712" y="4828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AIRequestLog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53712" y="5230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logged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4809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46720" y="46634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02752" y="4828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02752" y="5230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config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0" y="4809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Authentication, rebuilt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credentials checked directly against .env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900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minted for a fabricated { id: 'admin' } 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5701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revoke an issued token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2394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logged in, or when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6908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Banned/suspended users could keep using old tokens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 a real MongoDB user (role: 'admin'), auto-seeded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990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access token (15m) + refresh token (7d)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5570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tokenVersion revokes every token on password/role/ban change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41239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 event written to the audit log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908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 (active/suspended/banned) on every request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reaches an admin endpoint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1828800"/>
            <a:ext cx="548640" cy="54864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13487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arrives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GET /api/admin/users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28346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62072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70732" y="182880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7073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2999232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9232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+ tokenVersion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8032" y="28346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84064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92724" y="182880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579272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5221224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requireActiveUser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21224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banned / suspended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50024" y="28346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06056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14716" y="1828800"/>
            <a:ext cx="548640" cy="54864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25" name="Text 23"/>
          <p:cNvSpPr/>
          <p:nvPr/>
        </p:nvSpPr>
        <p:spPr>
          <a:xfrm>
            <a:off x="801471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7443216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authorize('admin')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43216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 non-admin role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72016" y="28346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28048" y="210312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36708" y="1828800"/>
            <a:ext cx="548640" cy="548640"/>
          </a:xfrm>
          <a:prstGeom prst="ellipse">
            <a:avLst/>
          </a:prstGeom>
          <a:solidFill>
            <a:srgbClr val="028074"/>
          </a:solidFill>
          <a:ln/>
        </p:spPr>
      </p:sp>
      <p:sp>
        <p:nvSpPr>
          <p:cNvPr id="31" name="Text 29"/>
          <p:cNvSpPr/>
          <p:nvPr/>
        </p:nvSpPr>
        <p:spPr>
          <a:xfrm>
            <a:off x="1023670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9665208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runs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65208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recordAudit() on any change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35" name="Text 33"/>
          <p:cNvSpPr/>
          <p:nvPr/>
        </p:nvSpPr>
        <p:spPr>
          <a:xfrm>
            <a:off x="1005840" y="48920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at any step → 401/403 immediately. This chain is identical whether the request comes from the admin UI or a raw API call — there is no separate, weaker path.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C325C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377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0360" y="201168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C325C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2011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.analyzeNews()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74920" y="201168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2011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Gemini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2377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69480" y="201168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C325C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011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0" y="2377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64040" y="201168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2C325C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5480" y="20116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AIRequestLog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93192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85D4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83280" y="393192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0A35B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Fake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80760" y="393192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8C547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Partially True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778240" y="393192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00B4A6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— success or failure — is written to AIRequestLog with provider, verdict, confidence, and latency, feeding the Admin AI Management dashboard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28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23042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7373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828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3042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Today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17373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1828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61120" y="23042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Analyses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3493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Count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4720" y="3493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Count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17920" y="3493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Articles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78240" y="2926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961120" y="3017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961120" y="3493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Reports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Breakdown</a:t>
            </a:r>
            <a:endParaRPr lang="en-US" sz="14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48640" y="4526280"/>
          <a:ext cx="51206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612648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Health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126480" y="45262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40080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869680" y="4754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0" y="5285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869680" y="5285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400800" y="5815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869680" y="58155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AUTHORITY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· News · Reports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 by role &amp; status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478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· Suspend · Activate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2611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change with last-admin guard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9743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Admin-initiated password reset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05740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057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Approve/Reject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5478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Unpublish workflow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2611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flag for the homepage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49743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search filters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2057400"/>
            <a:ext cx="2971800" cy="548640"/>
          </a:xfrm>
          <a:prstGeom prst="roundRect">
            <a:avLst>
              <a:gd name="adj" fmla="val 10000"/>
            </a:avLst>
          </a:prstGeom>
          <a:solidFill>
            <a:srgbClr val="E85D4E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057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58200" y="28346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User-flagged content 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35478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reviewed / resolved / dismissed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42611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+ reason + note trail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49743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when no longer relevant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Management &amp; Analytics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Requests (illustrative, last 7 days)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8288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0" y="18288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00800" y="288036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2880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0" y="28803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400800" y="393192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3931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Provider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0" y="3931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8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8640" y="4709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is real — sourced from AIRequestLog, written automatically on every analysis call, not a separate instrumentation step.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394960"/>
            <a:ext cx="1101852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4400" y="5394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adds: daily active users, daily analyses, monthly growth, and fake-vs-real trend — all filterable, all chart-native.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C32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19202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22585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hashing, never logged or returned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C325C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6995160" y="19202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95160" y="22585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refresh, revocable via tokenVersion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C325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63040" y="34930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applied globally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0175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C32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29184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6995160" y="31546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95160" y="34930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express-mongo-sanitize on every request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C325C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52628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1463040" y="4389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Abuse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63040" y="47274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global + stricter on auth routes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42519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C325C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452628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6995160" y="4389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95160" y="47274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logged with actor, IP, timestamp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18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not hidden: CORS is currently permissive for development and should be pinned before public launch — full detail in SECURITY_REPORT.md.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CI/CD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 Suite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+ mongodb-memory-server — no real DB needed to run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620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RBAC middleware, User model (hashing, defaults, duplicates)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838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register → login → /me, and a direct proof that non-admins are rejected from /api/admin/*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Pipeline (GitHub Actions)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6858000" y="22677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Syntax-check every .js 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852928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6858000" y="2834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 suite on Node 18.x &amp; 20.x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419856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/>
          <p:nvPr/>
        </p:nvSpPr>
        <p:spPr>
          <a:xfrm>
            <a:off x="6858000" y="340156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(high severity)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86784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6858000" y="396849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Docker image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18520" cy="1691640"/>
          </a:xfrm>
          <a:prstGeom prst="roundRect">
            <a:avLst>
              <a:gd name="adj" fmla="val 4324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not assumed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52578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file's controller references were cross-checked programmatically against actual exports. Every touched file passes node --check. The RBAC fix is asserted by an automated test, not just prose.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Deployment, five 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57400"/>
            <a:ext cx="1719072" cy="457200"/>
          </a:xfrm>
          <a:prstGeom prst="roundRect">
            <a:avLst>
              <a:gd name="adj" fmla="val 12000"/>
            </a:avLst>
          </a:prstGeom>
          <a:solidFill>
            <a:srgbClr val="02807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build, non-root user, health-checked. Recommended for self-hosting.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79776" y="18288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2656" y="2057400"/>
            <a:ext cx="1719072" cy="457200"/>
          </a:xfrm>
          <a:prstGeom prst="roundRect">
            <a:avLst>
              <a:gd name="adj" fmla="val 12000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2962656" y="2057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44368" y="269748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render.yaml blueprint — provisions automatically from the Dockerfile.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10912" y="18288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93792" y="2057400"/>
            <a:ext cx="1719072" cy="457200"/>
          </a:xfrm>
          <a:prstGeom prst="roundRect">
            <a:avLst>
              <a:gd name="adj" fmla="val 12000"/>
            </a:avLst>
          </a:prstGeom>
          <a:solidFill>
            <a:srgbClr val="1B1F3B"/>
          </a:solidFill>
          <a:ln/>
        </p:spPr>
      </p:sp>
      <p:sp>
        <p:nvSpPr>
          <p:cNvPr id="15" name="Text 13"/>
          <p:cNvSpPr/>
          <p:nvPr/>
        </p:nvSpPr>
        <p:spPr>
          <a:xfrm>
            <a:off x="5193792" y="2057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75504" y="269748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railway.json — builds from Dockerfile, auto health-checked restarts.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42048" y="18288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24928" y="2057400"/>
            <a:ext cx="1719072" cy="457200"/>
          </a:xfrm>
          <a:prstGeom prst="roundRect">
            <a:avLst>
              <a:gd name="adj" fmla="val 12000"/>
            </a:avLst>
          </a:prstGeom>
          <a:solidFill>
            <a:srgbClr val="E85D4E"/>
          </a:solidFill>
          <a:ln/>
        </p:spPr>
      </p:sp>
      <p:sp>
        <p:nvSpPr>
          <p:cNvPr id="19" name="Text 17"/>
          <p:cNvSpPr/>
          <p:nvPr/>
        </p:nvSpPr>
        <p:spPr>
          <a:xfrm>
            <a:off x="7424928" y="2057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269748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via serverless-http. Requires Cloudinary (no local disk).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73184" y="1828800"/>
            <a:ext cx="2084832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56064" y="2057400"/>
            <a:ext cx="1719072" cy="457200"/>
          </a:xfrm>
          <a:prstGeom prst="roundRect">
            <a:avLst>
              <a:gd name="adj" fmla="val 12000"/>
            </a:avLst>
          </a:prstGeom>
          <a:solidFill>
            <a:srgbClr val="E85D4E"/>
          </a:solidFill>
          <a:ln/>
        </p:spPr>
      </p:sp>
      <p:sp>
        <p:nvSpPr>
          <p:cNvPr id="23" name="Text 21"/>
          <p:cNvSpPr/>
          <p:nvPr/>
        </p:nvSpPr>
        <p:spPr>
          <a:xfrm>
            <a:off x="9656064" y="20574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Netlify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37776" y="2697480"/>
            <a:ext cx="1755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Functions-based, same serverless trade-off as Vercel.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path: Docker / Render / Railway. Vercel &amp; Netlify are supported, but their serverless model means local file uploads don't persist — documented plainly in DEPLOYMENT_GUIDE.md rather than glossed over.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submission to public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71800" y="23545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21031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0B4A6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0" y="23545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0B4A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66760" y="23545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41080" y="21031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0B4A6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10312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PDF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Moderation Journey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862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flagged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submitted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71800" y="41376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46120" y="38862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B1F3B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8862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panel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41376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0" y="38862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B1F3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8862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publish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66760" y="41376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41080" y="38862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B1F3B"/>
          </a:solidFill>
          <a:ln/>
        </p:spPr>
      </p:sp>
      <p:sp>
        <p:nvSpPr>
          <p:cNvPr id="28" name="Text 26"/>
          <p:cNvSpPr/>
          <p:nvPr/>
        </p:nvSpPr>
        <p:spPr>
          <a:xfrm>
            <a:off x="8641080" y="38862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logged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audit trail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110185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journeys converge on the same trust guarantee: what the public sees on /trending has been through the published-status gate — nothing reaches the homepage unreviewed.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2FA for Admins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TOTP-based multi-factor auth given the panel's authority.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Lockout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failedLoginAttempts into a temporary IP/account lock.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32104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→ UI Wiring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flag-content endpoint as a button in the main app.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AI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detection beyond English-language sources.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457200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Extension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5120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analysis of any article while browsing.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38404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4114800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8321040" y="4754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API + Rate Plans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51206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third parties integrate TruthLens verdicts directly.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C32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stub to production-ready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22860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67-line admin controller and an .env login bypass became a fully-audited, RBAC-enforced platform with real deployment infrastructure and an honest account of what's verified vs. what still needs a live environment.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56616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New/rewritten source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26364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targets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96112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bugs found &amp; fixed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806440"/>
            <a:ext cx="457200" cy="41148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2026-07-30T17:56:09Z</dcterms:created>
  <dcterms:modified xsi:type="dcterms:W3CDTF">2026-07-30T17:56:09Z</dcterms:modified>
</cp:coreProperties>
</file>